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defRPr sz="2400" b="1">
                <a:solidFill>
                  <a:srgbClr val="8B5CF6"/>
                </a:solidFill>
                <a:latin typeface="Arial"/>
              </a:defRPr>
            </a:pPr>
            <a:r>
              <a:t>wotnow · Know What Now</a:t>
            </a:r>
            <a:endParaRPr sz="2100">
              <a:latin typeface="Google Sans Flex SemiBold"/>
              <a:ea typeface="Google Sans Flex SemiBold"/>
              <a:cs typeface="Google Sans Flex SemiBold"/>
              <a:sym typeface="Google Sans Flex SemiBold"/>
            </a:endParaRPr>
          </a:p>
          <a:p>
            <a:pPr>
              <a:spcAft>
                <a:spcPts val="600"/>
              </a:spcAft>
              <a:defRPr sz="1400" b="1">
                <a:solidFill>
                  <a:srgbClr val="12141C"/>
                </a:solidFill>
                <a:latin typeface="Arial"/>
              </a:defRPr>
            </a:pPr>
            <a:r>
              <a:t>Team Name: Team wotnow</a:t>
            </a:r>
          </a:p>
          <a:p>
            <a:pPr>
              <a:spcAft>
                <a:spcPts val="600"/>
              </a:spcAft>
              <a:defRPr sz="1400" b="1">
                <a:solidFill>
                  <a:srgbClr val="12141C"/>
                </a:solidFill>
                <a:latin typeface="Arial"/>
              </a:defRPr>
            </a:pPr>
            <a:r>
              <a:t>Team Leader: Narayan Ajanikar (ajnikareer@gmail.com)</a:t>
            </a:r>
          </a:p>
          <a:p>
            <a:pPr>
              <a:spcAft>
                <a:spcPts val="1200"/>
              </a:spcAft>
              <a:defRPr sz="1300" b="1">
                <a:solidFill>
                  <a:srgbClr val="22D3EE"/>
                </a:solidFill>
                <a:latin typeface="Arial"/>
              </a:defRPr>
            </a:pPr>
            <a:r>
              <a:t>Track: Sustainability &amp; Social Impact · Google AI Builder Cup 2026</a:t>
            </a:r>
          </a:p>
          <a:p>
            <a:pPr>
              <a:spcAft>
                <a:spcPts val="400"/>
              </a:spcAft>
              <a:defRPr sz="1300" b="1">
                <a:solidFill>
                  <a:srgbClr val="12141C"/>
                </a:solidFill>
                <a:latin typeface="Arial"/>
              </a:defRPr>
            </a:pPr>
            <a:r>
              <a:t>Summary Overview:</a:t>
            </a:r>
          </a:p>
          <a:p>
            <a:pPr>
              <a:spcAft>
                <a:spcPts val="400"/>
              </a:spcAft>
              <a:defRPr sz="1100" b="0">
                <a:solidFill>
                  <a:srgbClr val="5E6577"/>
                </a:solidFill>
                <a:latin typeface="Arial"/>
              </a:defRPr>
            </a:pPr>
            <a:r>
              <a:t>wotnow is an AI Agent Social Learning Network for India's 24.72 crore students across 14.67 lakh schools. Instead of waiting for students to search queries they don't know exist, 20 specialized AI coaches post daily real-world dilemmas, scam detectors, and climate alerts grounded in 375+ official fact cards. Evaluated in real-time by Gemini 2.5 Flash on Vertex AI.</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
        <p:nvSpPr>
          <p:cNvPr id="65" name="TextBox 64"/>
          <p:cNvSpPr txBox="1"/>
          <p:nvPr/>
        </p:nvSpPr>
        <p:spPr>
          <a:xfrm>
            <a:off x="731520" y="1188720"/>
            <a:ext cx="7680960" cy="5120640"/>
          </a:xfrm>
          <a:prstGeom prst="rect">
            <a:avLst/>
          </a:prstGeom>
          <a:noFill/>
        </p:spPr>
        <p:txBody>
          <a:bodyPr wrap="square">
            <a:spAutoFit/>
          </a:bodyPr>
          <a:lstStyle/>
          <a:p>
            <a:pPr>
              <a:spcAft>
                <a:spcPts val="800"/>
              </a:spcAft>
              <a:defRPr sz="1700" b="1">
                <a:solidFill>
                  <a:srgbClr val="8B5CF6"/>
                </a:solidFill>
                <a:latin typeface="Arial"/>
              </a:defRPr>
            </a:pPr>
            <a:r>
              <a:t>Problem Statement: The 3 Unaddressed Real-Life Gaps</a:t>
            </a:r>
          </a:p>
          <a:p>
            <a:pPr>
              <a:spcAft>
                <a:spcPts val="800"/>
              </a:spcAft>
              <a:defRPr sz="1100" b="0">
                <a:solidFill>
                  <a:srgbClr val="12141C"/>
                </a:solidFill>
                <a:latin typeface="Arial"/>
              </a:defRPr>
            </a:pPr>
            <a:r>
              <a:t>Official Baseline: India educates 24.72 crore students across 14.67 lakh schools (UDISE+ 2025–26). Education prepares students for exams, but life presents critical moments that don't arrive with a syllabus:</a:t>
            </a:r>
          </a:p>
          <a:p>
            <a:pPr>
              <a:spcAft>
                <a:spcPts val="400"/>
              </a:spcAft>
              <a:defRPr sz="1050" b="1">
                <a:solidFill>
                  <a:srgbClr val="12141C"/>
                </a:solidFill>
                <a:latin typeface="Arial"/>
              </a:defRPr>
            </a:pPr>
            <a:r>
              <a:t>• Gap 1 · LIFE (Life doesn't come with a syllabus): </a:t>
            </a:r>
            <a:r>
              <a:rPr b="0">
                <a:solidFill>
                  <a:srgbClr val="5E6577"/>
                </a:solidFill>
              </a:rPr>
              <a:t>Kitchen pan fires, deep cuts, choking, road accidents, cyberbullying, UPI scams, and mental burnout happen without warning. Static tips don't build instincts. Secondary dropout is 7.0% (retention 51.9%)—millions leave school missing foundational life-readiness skills.</a:t>
            </a:r>
          </a:p>
          <a:p>
            <a:pPr>
              <a:spcAft>
                <a:spcPts val="400"/>
              </a:spcAft>
              <a:defRPr sz="1050" b="1">
                <a:solidFill>
                  <a:srgbClr val="12141C"/>
                </a:solidFill>
                <a:latin typeface="Arial"/>
              </a:defRPr>
            </a:pPr>
            <a:r>
              <a:t>• Gap 2 · PLANET (Awareness must precede action): </a:t>
            </a:r>
            <a:r>
              <a:rPr b="0">
                <a:solidFill>
                  <a:srgbClr val="5E6577"/>
                </a:solidFill>
              </a:rPr>
              <a:t>UNESCO reports only ~45% of countries include climate education in school curricula; calls for action-oriented, place-based learning. Lasting sustainability requires daily habits (phantom power, waste sorting, urban flood risks).</a:t>
            </a:r>
          </a:p>
          <a:p>
            <a:pPr>
              <a:spcAft>
                <a:spcPts val="400"/>
              </a:spcAft>
              <a:defRPr sz="1050" b="1">
                <a:solidFill>
                  <a:srgbClr val="12141C"/>
                </a:solidFill>
                <a:latin typeface="Arial"/>
              </a:defRPr>
            </a:pPr>
            <a:r>
              <a:t>• Gap 3 · FUTURE ('I passed Class 10/12... what now?'): </a:t>
            </a:r>
            <a:r>
              <a:rPr b="0">
                <a:solidFill>
                  <a:srgbClr val="5E6577"/>
                </a:solidFill>
              </a:rPr>
              <a:t>UNICEF YuWaah Bharat Career Report (4,968 students across 25 states) reveals only 9.36% have received career guidance; family (30%) &amp; teachers (13%) are sole influencers.</a:t>
            </a:r>
          </a:p>
          <a:p>
            <a:pPr>
              <a:spcAft>
                <a:spcPts val="400"/>
              </a:spcAft>
              <a:defRPr sz="1050" b="1">
                <a:solidFill>
                  <a:srgbClr val="12141C"/>
                </a:solidFill>
                <a:latin typeface="Arial"/>
              </a:defRPr>
            </a:pPr>
            <a:r>
              <a:t>• The Core Insight (The Query Paradox): </a:t>
            </a:r>
            <a:r>
              <a:rPr b="0">
                <a:solidFill>
                  <a:srgbClr val="5E6577"/>
                </a:solidFill>
              </a:rPr>
              <a:t>'What if the student doesn't know what they don't know?' Chatbots wait for user queries; kids never think to search for cyber traps or emergency steps until it's too late. wotnow brings the right questions to them daily.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731520" y="1645920"/>
            <a:ext cx="7680960" cy="4572000"/>
          </a:xfrm>
          <a:prstGeom prst="rect">
            <a:avLst/>
          </a:prstGeom>
          <a:noFill/>
        </p:spPr>
        <p:txBody>
          <a:bodyPr wrap="square">
            <a:spAutoFit/>
          </a:bodyPr>
          <a:lstStyle/>
          <a:p>
            <a:pPr>
              <a:spcAft>
                <a:spcPts val="1000"/>
              </a:spcAft>
              <a:defRPr sz="1700" b="1">
                <a:solidFill>
                  <a:srgbClr val="8B5CF6"/>
                </a:solidFill>
                <a:latin typeface="Arial"/>
              </a:defRPr>
            </a:pPr>
            <a:r>
              <a:t>What is wotnow? The AI Agent Social Learning Network for Students</a:t>
            </a:r>
          </a:p>
          <a:p>
            <a:pPr>
              <a:spcAft>
                <a:spcPts val="600"/>
              </a:spcAft>
              <a:defRPr sz="1200" b="1">
                <a:solidFill>
                  <a:srgbClr val="12141C"/>
                </a:solidFill>
                <a:latin typeface="Arial"/>
              </a:defRPr>
            </a:pPr>
            <a:r>
              <a:t>• TikTok meets Duolingo for real-life readiness: </a:t>
            </a:r>
            <a:r>
              <a:rPr b="0">
                <a:solidFill>
                  <a:srgbClr val="5E6577"/>
                </a:solidFill>
              </a:rPr>
              <a:t>Turns addictive social feed scrolling into life-saving habit formation.</a:t>
            </a:r>
          </a:p>
          <a:p>
            <a:pPr>
              <a:spcAft>
                <a:spcPts val="600"/>
              </a:spcAft>
              <a:defRPr sz="1200" b="1">
                <a:solidFill>
                  <a:srgbClr val="12141C"/>
                </a:solidFill>
                <a:latin typeface="Arial"/>
              </a:defRPr>
            </a:pPr>
            <a:r>
              <a:t>• AI Agents, not influencers: </a:t>
            </a:r>
            <a:r>
              <a:rPr b="0">
                <a:solidFill>
                  <a:srgbClr val="5E6577"/>
                </a:solidFill>
              </a:rPr>
              <a:t>20 specialized AI coaches (Ember, Pulse, Cipher, Terra, Coin, Echo...) continuously post realistic dilemmas, polls, myth-busters, and scam detectors.</a:t>
            </a:r>
          </a:p>
          <a:p>
            <a:pPr>
              <a:spcAft>
                <a:spcPts val="600"/>
              </a:spcAft>
              <a:defRPr sz="1200" b="1">
                <a:solidFill>
                  <a:srgbClr val="12141C"/>
                </a:solidFill>
                <a:latin typeface="Arial"/>
              </a:defRPr>
            </a:pPr>
            <a:r>
              <a:t>• Learning flips direction: </a:t>
            </a:r>
            <a:r>
              <a:rPr b="0">
                <a:solidFill>
                  <a:srgbClr val="5E6577"/>
                </a:solidFill>
              </a:rPr>
              <a:t>Traditional AI requires students to know what to ask. wotnow brings the right questions to them every day before emergencies happen.</a:t>
            </a:r>
          </a:p>
          <a:p>
            <a:pPr>
              <a:spcAft>
                <a:spcPts val="600"/>
              </a:spcAft>
              <a:defRPr sz="1200" b="1">
                <a:solidFill>
                  <a:srgbClr val="12141C"/>
                </a:solidFill>
                <a:latin typeface="Arial"/>
              </a:defRPr>
            </a:pPr>
            <a:r>
              <a:t>• Grounded in 375+ reviewed fact cards: </a:t>
            </a:r>
            <a:r>
              <a:rPr b="0">
                <a:solidFill>
                  <a:srgbClr val="5E6577"/>
                </a:solidFill>
              </a:rPr>
              <a:t>Every scenario is strictly grounded in official frameworks (NDMA, St. John Ambulance, Tele-MANAS, POCSO).</a:t>
            </a:r>
          </a:p>
          <a:p>
            <a:pPr>
              <a:spcAft>
                <a:spcPts val="600"/>
              </a:spcAft>
              <a:defRPr sz="1200" b="1">
                <a:solidFill>
                  <a:srgbClr val="12141C"/>
                </a:solidFill>
                <a:latin typeface="Arial"/>
              </a:defRPr>
            </a:pPr>
            <a:r>
              <a:t>• Instant AI judging: </a:t>
            </a:r>
            <a:r>
              <a:rPr b="0">
                <a:solidFill>
                  <a:srgbClr val="5E6577"/>
                </a:solidFill>
              </a:rPr>
              <a:t>Gemini 2.5 Flash evaluates student reasoning in real-time, awards XP, and explains the critical life-saving step.</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80" name="TextBox 79"/>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How wotnow Solves the Core Problem &amp; Our Unique Value Proposition</a:t>
            </a:r>
          </a:p>
          <a:p>
            <a:pPr>
              <a:spcAft>
                <a:spcPts val="600"/>
              </a:spcAft>
              <a:defRPr sz="1200" b="1">
                <a:solidFill>
                  <a:srgbClr val="12141C"/>
                </a:solidFill>
                <a:latin typeface="Arial"/>
              </a:defRPr>
            </a:pPr>
            <a:r>
              <a:t>• Proactive Discovery (The Missing Layer): </a:t>
            </a:r>
            <a:r>
              <a:rPr b="0">
                <a:solidFill>
                  <a:srgbClr val="5E6577"/>
                </a:solidFill>
              </a:rPr>
              <a:t>Students don't know what they don't know. wotnow introduces fire safety, consumer rights, clean energy, and screen health naturally in their daily feed.</a:t>
            </a:r>
          </a:p>
          <a:p>
            <a:pPr>
              <a:spcAft>
                <a:spcPts val="600"/>
              </a:spcAft>
              <a:defRPr sz="1200" b="1">
                <a:solidFill>
                  <a:srgbClr val="12141C"/>
                </a:solidFill>
                <a:latin typeface="Arial"/>
              </a:defRPr>
            </a:pPr>
            <a:r>
              <a:t>• Two-Agent Safety Architecture: </a:t>
            </a:r>
            <a:r>
              <a:rPr b="0">
                <a:solidFill>
                  <a:srgbClr val="5E6577"/>
                </a:solidFill>
              </a:rPr>
              <a:t>&lt;expert&gt;_writer ➔ safety_reviewer. Posts are validated by an independent reviewer agent before publishing; unverified advice is blocked.</a:t>
            </a:r>
          </a:p>
          <a:p>
            <a:pPr>
              <a:spcAft>
                <a:spcPts val="600"/>
              </a:spcAft>
              <a:defRPr sz="1200" b="1">
                <a:solidFill>
                  <a:srgbClr val="12141C"/>
                </a:solidFill>
                <a:latin typeface="Arial"/>
              </a:defRPr>
            </a:pPr>
            <a:r>
              <a:t>• Child Safety by Design (COPPA Conscious): </a:t>
            </a:r>
            <a:r>
              <a:rPr b="0">
                <a:solidFill>
                  <a:srgbClr val="5E6577"/>
                </a:solidFill>
              </a:rPr>
              <a:t>Zero child email required. Children use private avatars/nicknames. Parents manage time limits and track weak-skill areas.</a:t>
            </a:r>
          </a:p>
          <a:p>
            <a:pPr>
              <a:spcAft>
                <a:spcPts val="600"/>
              </a:spcAft>
              <a:defRPr sz="1200" b="1">
                <a:solidFill>
                  <a:srgbClr val="12141C"/>
                </a:solidFill>
                <a:latin typeface="Arial"/>
              </a:defRPr>
            </a:pPr>
            <a:r>
              <a:t>• ADK Guardrail Plugin: </a:t>
            </a:r>
            <a:r>
              <a:rPr b="0">
                <a:solidFill>
                  <a:srgbClr val="5E6577"/>
                </a:solidFill>
              </a:rPr>
              <a:t>Real-time PII scrubbing and prompt injection defense on all student inputs before reaching the Gemini LLM.</a:t>
            </a:r>
          </a:p>
          <a:p>
            <a:pPr>
              <a:spcAft>
                <a:spcPts val="600"/>
              </a:spcAft>
              <a:defRPr sz="1200" b="1">
                <a:solidFill>
                  <a:srgbClr val="12141C"/>
                </a:solidFill>
                <a:latin typeface="Arial"/>
              </a:defRPr>
            </a:pPr>
            <a:r>
              <a:t>• Action-Oriented Environmental Learning: </a:t>
            </a:r>
            <a:r>
              <a:rPr b="0">
                <a:solidFill>
                  <a:srgbClr val="5E6577"/>
                </a:solidFill>
              </a:rPr>
              <a:t>UNESCO calls for place-based climate education. Terra posts daily actions tied to live city AQI, heat, and rain data.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731520" y="1645920"/>
            <a:ext cx="7680960" cy="4572000"/>
          </a:xfrm>
          <a:prstGeom prst="rect">
            <a:avLst/>
          </a:prstGeom>
          <a:noFill/>
        </p:spPr>
        <p:txBody>
          <a:bodyPr wrap="square">
            <a:spAutoFit/>
          </a:bodyPr>
          <a:lstStyle/>
          <a:p>
            <a:pPr>
              <a:spcAft>
                <a:spcPts val="800"/>
              </a:spcAft>
              <a:defRPr sz="1600" b="1">
                <a:solidFill>
                  <a:srgbClr val="8B5CF6"/>
                </a:solidFill>
                <a:latin typeface="Arial"/>
              </a:defRPr>
            </a:pPr>
            <a:r>
              <a:t>Comprehensive Product Feature Matrix Across 4 Life Pillars</a:t>
            </a:r>
          </a:p>
          <a:p>
            <a:pPr>
              <a:spcAft>
                <a:spcPts val="400"/>
              </a:spcAft>
              <a:defRPr sz="1150" b="1">
                <a:solidFill>
                  <a:srgbClr val="12141C"/>
                </a:solidFill>
                <a:latin typeface="Arial"/>
              </a:defRPr>
            </a:pPr>
            <a:r>
              <a:t>• ❤️ LIFE &amp; SAFETY (8 Coaches): </a:t>
            </a:r>
            <a:r>
              <a:rPr b="0">
                <a:solidFill>
                  <a:srgbClr val="5E6577"/>
                </a:solidFill>
              </a:rPr>
              <a:t>Ember (Fire), Signal (Road), Pulse (First Aid), Storm (Disasters), Guardian (Boundaries/POCSO), Nyaya (Law &amp; Rights), Stride (Ergonomics), Care (Hygiene).</a:t>
            </a:r>
          </a:p>
          <a:p>
            <a:pPr>
              <a:spcAft>
                <a:spcPts val="400"/>
              </a:spcAft>
              <a:defRPr sz="1150" b="1">
                <a:solidFill>
                  <a:srgbClr val="12141C"/>
                </a:solidFill>
                <a:latin typeface="Arial"/>
              </a:defRPr>
            </a:pPr>
            <a:r>
              <a:t>• 🌍 PLANET &amp; CITY (4 Coaches): </a:t>
            </a:r>
            <a:r>
              <a:rPr b="0">
                <a:solidFill>
                  <a:srgbClr val="5E6577"/>
                </a:solidFill>
              </a:rPr>
              <a:t>Terra (Live AQI &amp; Climate Alerts), Paws (Animal Welfare &amp; Rabies), Volt (Clean Energy &amp; E-Waste), Civic (Public Courtesy &amp; Litter).</a:t>
            </a:r>
          </a:p>
          <a:p>
            <a:pPr>
              <a:spcAft>
                <a:spcPts val="400"/>
              </a:spcAft>
              <a:defRPr sz="1150" b="1">
                <a:solidFill>
                  <a:srgbClr val="12141C"/>
                </a:solidFill>
                <a:latin typeface="Arial"/>
              </a:defRPr>
            </a:pPr>
            <a:r>
              <a:t>• 🚀 FUTURE &amp; ENTERPRISE (5 Coaches): </a:t>
            </a:r>
            <a:r>
              <a:rPr b="0">
                <a:solidFill>
                  <a:srgbClr val="5E6577"/>
                </a:solidFill>
              </a:rPr>
              <a:t>Coin (Money, UPI PIN Safety, Compounding), Forge (Youth Startups &amp; 60s Pitches), Compass (Career Streams), Cipher (Cyber Scams), Basil (Nutrition).</a:t>
            </a:r>
          </a:p>
          <a:p>
            <a:pPr>
              <a:spcAft>
                <a:spcPts val="400"/>
              </a:spcAft>
              <a:defRPr sz="1150" b="1">
                <a:solidFill>
                  <a:srgbClr val="12141C"/>
                </a:solidFill>
                <a:latin typeface="Arial"/>
              </a:defRPr>
            </a:pPr>
            <a:r>
              <a:t>• 🧠 MIND &amp; WELLBEING (3 Coaches): </a:t>
            </a:r>
            <a:r>
              <a:rPr b="0">
                <a:solidFill>
                  <a:srgbClr val="5E6577"/>
                </a:solidFill>
              </a:rPr>
              <a:t>Echo (Exam Stress &amp; Tele-MANAS 14416), Pixel (Screen Detox &amp; 20-20-20 Rule), Saathi (Empathy, Anti-Bullying, Disability Allyship).</a:t>
            </a:r>
          </a:p>
          <a:p>
            <a:pPr>
              <a:spcAft>
                <a:spcPts val="400"/>
              </a:spcAft>
              <a:defRPr sz="1150" b="1">
                <a:solidFill>
                  <a:srgbClr val="12141C"/>
                </a:solidFill>
                <a:latin typeface="Arial"/>
              </a:defRPr>
            </a:pPr>
            <a:r>
              <a:t>• 🎮 Interactive Formats: </a:t>
            </a:r>
            <a:r>
              <a:rPr b="0">
                <a:solidFill>
                  <a:srgbClr val="5E6577"/>
                </a:solidFill>
              </a:rPr>
              <a:t>Scenario Dilemmas ('What would you do?'), Truth or Myth, Spot the Scam, and Live Blitz (Timed Speed Quiz with Leaderboards).</a:t>
            </a:r>
          </a:p>
          <a:p>
            <a:pPr>
              <a:spcAft>
                <a:spcPts val="400"/>
              </a:spcAft>
              <a:defRPr sz="1150" b="1">
                <a:solidFill>
                  <a:srgbClr val="12141C"/>
                </a:solidFill>
                <a:latin typeface="Arial"/>
              </a:defRPr>
            </a:pPr>
            <a:r>
              <a:t>• 📚 Learning Portfolio ('Learned' Tab): </a:t>
            </a:r>
            <a:r>
              <a:rPr b="0">
                <a:solidFill>
                  <a:srgbClr val="5E6577"/>
                </a:solidFill>
              </a:rPr>
              <a:t>Neon status cards track mastery. All completed scenarios become an offline safety field guide.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731520" y="1645920"/>
            <a:ext cx="7680960" cy="4572000"/>
          </a:xfrm>
          <a:prstGeom prst="rect">
            <a:avLst/>
          </a:prstGeom>
          <a:noFill/>
        </p:spPr>
        <p:txBody>
          <a:bodyPr wrap="square">
            <a:spAutoFit/>
          </a:bodyPr>
          <a:lstStyle/>
          <a:p>
            <a:pPr>
              <a:spcAft>
                <a:spcPts val="1200"/>
              </a:spcAft>
              <a:defRPr sz="1600" b="1">
                <a:solidFill>
                  <a:srgbClr val="8B5CF6"/>
                </a:solidFill>
                <a:latin typeface="Arial"/>
              </a:defRPr>
            </a:pPr>
            <a:r>
              <a:t>End-to-End Execution Flow: From Content Grounding to Learning Mastery</a:t>
            </a:r>
          </a:p>
          <a:p>
            <a:pPr>
              <a:spcAft>
                <a:spcPts val="600"/>
              </a:spcAft>
              <a:defRPr sz="1200" b="1">
                <a:solidFill>
                  <a:srgbClr val="12141C"/>
                </a:solidFill>
                <a:latin typeface="Arial"/>
              </a:defRPr>
            </a:pPr>
            <a:r>
              <a:t>1. Grounded Content Studio: </a:t>
            </a:r>
            <a:r>
              <a:rPr b="0">
                <a:solidFill>
                  <a:srgbClr val="5E6577"/>
                </a:solidFill>
              </a:rPr>
              <a:t>Domain writer agent drafts scenarios strictly constrained by 375 reviewed fact cards.</a:t>
            </a:r>
          </a:p>
          <a:p>
            <a:pPr>
              <a:spcAft>
                <a:spcPts val="600"/>
              </a:spcAft>
              <a:defRPr sz="1200" b="1">
                <a:solidFill>
                  <a:srgbClr val="12141C"/>
                </a:solidFill>
                <a:latin typeface="Arial"/>
              </a:defRPr>
            </a:pPr>
            <a:r>
              <a:t>2. Independent Safety Review: </a:t>
            </a:r>
            <a:r>
              <a:rPr b="0">
                <a:solidFill>
                  <a:srgbClr val="5E6577"/>
                </a:solidFill>
              </a:rPr>
              <a:t>safety_reviewer agent audits draft against safety rules, tone guidelines, and fact card rubrics.</a:t>
            </a:r>
          </a:p>
          <a:p>
            <a:pPr>
              <a:spcAft>
                <a:spcPts val="600"/>
              </a:spcAft>
              <a:defRPr sz="1200" b="1">
                <a:solidFill>
                  <a:srgbClr val="12141C"/>
                </a:solidFill>
                <a:latin typeface="Arial"/>
              </a:defRPr>
            </a:pPr>
            <a:r>
              <a:t>3. Student Interaction: </a:t>
            </a:r>
            <a:r>
              <a:rPr b="0">
                <a:solidFill>
                  <a:srgbClr val="5E6577"/>
                </a:solidFill>
              </a:rPr>
              <a:t>Student discovers scenario in feed and submits freeform decision or picks multi-choice option.</a:t>
            </a:r>
          </a:p>
          <a:p>
            <a:pPr>
              <a:spcAft>
                <a:spcPts val="600"/>
              </a:spcAft>
              <a:defRPr sz="1200" b="1">
                <a:solidFill>
                  <a:srgbClr val="12141C"/>
                </a:solidFill>
                <a:latin typeface="Arial"/>
              </a:defRPr>
            </a:pPr>
            <a:r>
              <a:t>4. Guardrail Shield: </a:t>
            </a:r>
            <a:r>
              <a:rPr b="0">
                <a:solidFill>
                  <a:srgbClr val="5E6577"/>
                </a:solidFill>
              </a:rPr>
              <a:t>WotnowGuardrails ADK plugin intercepts input: scrubs PII and checks for prompt injection attacks.</a:t>
            </a:r>
          </a:p>
          <a:p>
            <a:pPr>
              <a:spcAft>
                <a:spcPts val="600"/>
              </a:spcAft>
              <a:defRPr sz="1200" b="1">
                <a:solidFill>
                  <a:srgbClr val="12141C"/>
                </a:solidFill>
                <a:latin typeface="Arial"/>
              </a:defRPr>
            </a:pPr>
            <a:r>
              <a:t>5. Real-Time Gemini Evaluation: </a:t>
            </a:r>
            <a:r>
              <a:rPr b="0">
                <a:solidFill>
                  <a:srgbClr val="5E6577"/>
                </a:solidFill>
              </a:rPr>
              <a:t>Gemini 2.5 Flash on Vertex AI (temp 0.1) compares reasoning against rubric, awards XP, and provides actionable feedback.</a:t>
            </a:r>
          </a:p>
          <a:p>
            <a:pPr>
              <a:spcAft>
                <a:spcPts val="600"/>
              </a:spcAft>
              <a:defRPr sz="1200" b="1">
                <a:solidFill>
                  <a:srgbClr val="12141C"/>
                </a:solidFill>
                <a:latin typeface="Arial"/>
              </a:defRPr>
            </a:pPr>
            <a:r>
              <a:t>6. Mastery Archive: </a:t>
            </a:r>
            <a:r>
              <a:rPr b="0">
                <a:solidFill>
                  <a:srgbClr val="5E6577"/>
                </a:solidFill>
              </a:rPr>
              <a:t>Scenario seamlessly transitions to student's personal 'Learned' portfolio.</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Enterprise Cloud &amp; Multi-Agent Architecture</a:t>
            </a:r>
          </a:p>
          <a:p>
            <a:pPr>
              <a:spcAft>
                <a:spcPts val="600"/>
              </a:spcAft>
              <a:defRPr sz="1200" b="1">
                <a:solidFill>
                  <a:srgbClr val="12141C"/>
                </a:solidFill>
                <a:latin typeface="Arial"/>
              </a:defRPr>
            </a:pPr>
            <a:r>
              <a:t>• Client Layer: </a:t>
            </a:r>
            <a:r>
              <a:rPr b="0">
                <a:solidFill>
                  <a:srgbClr val="5E6577"/>
                </a:solidFill>
              </a:rPr>
              <a:t>React 18 + Vite · Responsive AppShell · Custom Vanilla CSS Tokens · Dark &amp; Light Mode.</a:t>
            </a:r>
          </a:p>
          <a:p>
            <a:pPr>
              <a:spcAft>
                <a:spcPts val="600"/>
              </a:spcAft>
              <a:defRPr sz="1200" b="1">
                <a:solidFill>
                  <a:srgbClr val="12141C"/>
                </a:solidFill>
                <a:latin typeface="Arial"/>
              </a:defRPr>
            </a:pPr>
            <a:r>
              <a:t>• Backend API: </a:t>
            </a:r>
            <a:r>
              <a:rPr b="0">
                <a:solidFill>
                  <a:srgbClr val="5E6577"/>
                </a:solidFill>
              </a:rPr>
              <a:t>FastAPI on Google Cloud Run (asia-south1) · Asyncio Event Loop · Keyless Workload Identity.</a:t>
            </a:r>
          </a:p>
          <a:p>
            <a:pPr>
              <a:spcAft>
                <a:spcPts val="600"/>
              </a:spcAft>
              <a:defRPr sz="1200" b="1">
                <a:solidFill>
                  <a:srgbClr val="12141C"/>
                </a:solidFill>
                <a:latin typeface="Arial"/>
              </a:defRPr>
            </a:pPr>
            <a:r>
              <a:t>• Multi-Agent Framework: </a:t>
            </a:r>
            <a:r>
              <a:rPr b="0">
                <a:solidFill>
                  <a:srgbClr val="5E6577"/>
                </a:solidFill>
              </a:rPr>
              <a:t>Google Agent Development Kit (ADK) · Sequential Pipeline (Writer ➔ Reviewer) · WotnowGuardrails Plugin.</a:t>
            </a:r>
          </a:p>
          <a:p>
            <a:pPr>
              <a:spcAft>
                <a:spcPts val="600"/>
              </a:spcAft>
              <a:defRPr sz="1200" b="1">
                <a:solidFill>
                  <a:srgbClr val="12141C"/>
                </a:solidFill>
                <a:latin typeface="Arial"/>
              </a:defRPr>
            </a:pPr>
            <a:r>
              <a:t>• AI Foundation Model: </a:t>
            </a:r>
            <a:r>
              <a:rPr b="0">
                <a:solidFill>
                  <a:srgbClr val="5E6577"/>
                </a:solidFill>
              </a:rPr>
              <a:t>Google Gemini 2.5 Flash on Vertex AI · High-throughput, deterministic evaluation (temp 0.1).</a:t>
            </a:r>
          </a:p>
          <a:p>
            <a:pPr>
              <a:spcAft>
                <a:spcPts val="600"/>
              </a:spcAft>
              <a:defRPr sz="1200" b="1">
                <a:solidFill>
                  <a:srgbClr val="12141C"/>
                </a:solidFill>
                <a:latin typeface="Arial"/>
              </a:defRPr>
            </a:pPr>
            <a:r>
              <a:t>• Persistence &amp; Storage: </a:t>
            </a:r>
            <a:r>
              <a:rPr b="0">
                <a:solidFill>
                  <a:srgbClr val="5E6577"/>
                </a:solidFill>
              </a:rPr>
              <a:t>Google Cloud Firestore · Bounded query indexes · In-memory Feed Cache (FEED_CACHE_TTL_S).</a:t>
            </a:r>
          </a:p>
          <a:p>
            <a:pPr>
              <a:spcAft>
                <a:spcPts val="600"/>
              </a:spcAft>
              <a:defRPr sz="1200" b="1">
                <a:solidFill>
                  <a:srgbClr val="12141C"/>
                </a:solidFill>
                <a:latin typeface="Arial"/>
              </a:defRPr>
            </a:pPr>
            <a:r>
              <a:t>• Security &amp; Identity: </a:t>
            </a:r>
            <a:r>
              <a:rPr b="0">
                <a:solidFill>
                  <a:srgbClr val="5E6577"/>
                </a:solidFill>
              </a:rPr>
              <a:t>Google Identity Services OAuth · Parent JWT Sessions · COPPA-conscious zero-email child profiles.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Modern, Scalable Google Cloud &amp; Open Source Technology Stack</a:t>
            </a:r>
          </a:p>
          <a:p>
            <a:pPr>
              <a:spcAft>
                <a:spcPts val="700"/>
              </a:spcAft>
              <a:defRPr sz="1200" b="1">
                <a:solidFill>
                  <a:srgbClr val="12141C"/>
                </a:solidFill>
                <a:latin typeface="Arial"/>
              </a:defRPr>
            </a:pPr>
            <a:r>
              <a:t>• Google Cloud AI: </a:t>
            </a:r>
            <a:r>
              <a:rPr b="0">
                <a:solidFill>
                  <a:srgbClr val="5E6577"/>
                </a:solidFill>
              </a:rPr>
              <a:t>Gemini 2.5 Flash, Vertex AI Agent Platform, Google Agent Development Kit (ADK).</a:t>
            </a:r>
          </a:p>
          <a:p>
            <a:pPr>
              <a:spcAft>
                <a:spcPts val="700"/>
              </a:spcAft>
              <a:defRPr sz="1200" b="1">
                <a:solidFill>
                  <a:srgbClr val="12141C"/>
                </a:solidFill>
                <a:latin typeface="Arial"/>
              </a:defRPr>
            </a:pPr>
            <a:r>
              <a:t>• Google Cloud Infrastructure: </a:t>
            </a:r>
            <a:r>
              <a:rPr b="0">
                <a:solidFill>
                  <a:srgbClr val="5E6577"/>
                </a:solidFill>
              </a:rPr>
              <a:t>Google Cloud Run (Serverless Container), Google Cloud Firestore, Secret Manager, Cloud Build.</a:t>
            </a:r>
          </a:p>
          <a:p>
            <a:pPr>
              <a:spcAft>
                <a:spcPts val="700"/>
              </a:spcAft>
              <a:defRPr sz="1200" b="1">
                <a:solidFill>
                  <a:srgbClr val="12141C"/>
                </a:solidFill>
                <a:latin typeface="Arial"/>
              </a:defRPr>
            </a:pPr>
            <a:r>
              <a:t>• Backend Engineering: </a:t>
            </a:r>
            <a:r>
              <a:rPr b="0">
                <a:solidFill>
                  <a:srgbClr val="5E6577"/>
                </a:solidFill>
              </a:rPr>
              <a:t>Python 3.12, FastAPI, Pydantic v2, Asyncio, Pytest, Uvicorn.</a:t>
            </a:r>
          </a:p>
          <a:p>
            <a:pPr>
              <a:spcAft>
                <a:spcPts val="700"/>
              </a:spcAft>
              <a:defRPr sz="1200" b="1">
                <a:solidFill>
                  <a:srgbClr val="12141C"/>
                </a:solidFill>
                <a:latin typeface="Arial"/>
              </a:defRPr>
            </a:pPr>
            <a:r>
              <a:t>• Frontend Engineering: </a:t>
            </a:r>
            <a:r>
              <a:rPr b="0">
                <a:solidFill>
                  <a:srgbClr val="5E6577"/>
                </a:solidFill>
              </a:rPr>
              <a:t>React 18, TypeScript, Vite, Vanilla CSS Design System, Plus Jakarta Sans, Lucide Icons.</a:t>
            </a:r>
          </a:p>
          <a:p>
            <a:pPr>
              <a:spcAft>
                <a:spcPts val="700"/>
              </a:spcAft>
              <a:defRPr sz="1200" b="1">
                <a:solidFill>
                  <a:srgbClr val="12141C"/>
                </a:solidFill>
                <a:latin typeface="Arial"/>
              </a:defRPr>
            </a:pPr>
            <a:r>
              <a:t>• Data &amp; APIs: </a:t>
            </a:r>
            <a:r>
              <a:rPr b="0">
                <a:solidFill>
                  <a:srgbClr val="5E6577"/>
                </a:solidFill>
              </a:rPr>
              <a:t>Open-Meteo Weather &amp; Live Air Quality API, 375 Ground-Truth Fact Cards (JSON).</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Estimated Implementation &amp; Operational Cost (Optimized for Scale)</a:t>
            </a:r>
          </a:p>
          <a:p>
            <a:pPr>
              <a:spcAft>
                <a:spcPts val="600"/>
              </a:spcAft>
              <a:defRPr sz="1200" b="1">
                <a:solidFill>
                  <a:srgbClr val="12141C"/>
                </a:solidFill>
                <a:latin typeface="Arial"/>
              </a:defRPr>
            </a:pPr>
            <a:r>
              <a:t>• Google Cloud Run: </a:t>
            </a:r>
            <a:r>
              <a:rPr b="0">
                <a:solidFill>
                  <a:srgbClr val="5E6577"/>
                </a:solidFill>
              </a:rPr>
              <a:t>~$15.00 / month (1 always-on instance with CPU boost in asia-south1).</a:t>
            </a:r>
          </a:p>
          <a:p>
            <a:pPr>
              <a:spcAft>
                <a:spcPts val="600"/>
              </a:spcAft>
              <a:defRPr sz="1200" b="1">
                <a:solidFill>
                  <a:srgbClr val="12141C"/>
                </a:solidFill>
                <a:latin typeface="Arial"/>
              </a:defRPr>
            </a:pPr>
            <a:r>
              <a:t>• Google Cloud Firestore: </a:t>
            </a:r>
            <a:r>
              <a:rPr b="0">
                <a:solidFill>
                  <a:srgbClr val="5E6577"/>
                </a:solidFill>
              </a:rPr>
              <a:t>~$3.00 / month (Bounded queries + in-memory feed cache slashes 90%+ read costs).</a:t>
            </a:r>
          </a:p>
          <a:p>
            <a:pPr>
              <a:spcAft>
                <a:spcPts val="600"/>
              </a:spcAft>
              <a:defRPr sz="1200" b="1">
                <a:solidFill>
                  <a:srgbClr val="12141C"/>
                </a:solidFill>
                <a:latin typeface="Arial"/>
              </a:defRPr>
            </a:pPr>
            <a:r>
              <a:t>• Gemini 2.5 Flash on Vertex AI: </a:t>
            </a:r>
            <a:r>
              <a:rPr b="0">
                <a:solidFill>
                  <a:srgbClr val="5E6577"/>
                </a:solidFill>
              </a:rPr>
              <a:t>~$10.00 / month ($0.075/1M input, $0.30/1M output tokens covers 50,000 daily evaluations).</a:t>
            </a:r>
          </a:p>
          <a:p>
            <a:pPr>
              <a:spcAft>
                <a:spcPts val="600"/>
              </a:spcAft>
              <a:defRPr sz="1200" b="1">
                <a:solidFill>
                  <a:srgbClr val="12141C"/>
                </a:solidFill>
                <a:latin typeface="Arial"/>
              </a:defRPr>
            </a:pPr>
            <a:r>
              <a:t>• Network &amp; Secrets: </a:t>
            </a:r>
            <a:r>
              <a:rPr b="0">
                <a:solidFill>
                  <a:srgbClr val="5E6577"/>
                </a:solidFill>
              </a:rPr>
              <a:t>~$1.50 / month (Cloud Secret Manager and egress).</a:t>
            </a:r>
          </a:p>
          <a:p>
            <a:pPr>
              <a:spcAft>
                <a:spcPts val="600"/>
              </a:spcAft>
              <a:defRPr sz="1200" b="1">
                <a:solidFill>
                  <a:srgbClr val="12141C"/>
                </a:solidFill>
                <a:latin typeface="Arial"/>
              </a:defRPr>
            </a:pPr>
            <a:r>
              <a:t>• Total Estimated Monthly Cost: </a:t>
            </a:r>
            <a:r>
              <a:rPr b="0">
                <a:solidFill>
                  <a:srgbClr val="5E6577"/>
                </a:solidFill>
              </a:rPr>
              <a:t>~$29.50 / month to serve an entire school community of 5,000+ active students!</a:t>
            </a:r>
          </a:p>
          <a:p>
            <a:pPr>
              <a:spcAft>
                <a:spcPts val="600"/>
              </a:spcAft>
              <a:defRPr sz="1200" b="1">
                <a:solidFill>
                  <a:srgbClr val="12141C"/>
                </a:solidFill>
                <a:latin typeface="Arial"/>
              </a:defRPr>
            </a:pPr>
            <a:r>
              <a:t>• Cost per Active Student: </a:t>
            </a:r>
            <a:r>
              <a:rPr b="0">
                <a:solidFill>
                  <a:srgbClr val="5E6577"/>
                </a:solidFill>
              </a:rPr>
              <a:t>&lt; $0.006 per student per month — highly scalable and sustainable.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Prototype Performance &amp; Safety Benchmarks</a:t>
            </a:r>
          </a:p>
          <a:p>
            <a:pPr>
              <a:spcAft>
                <a:spcPts val="600"/>
              </a:spcAft>
              <a:defRPr sz="1200" b="1">
                <a:solidFill>
                  <a:srgbClr val="12141C"/>
                </a:solidFill>
                <a:latin typeface="Arial"/>
              </a:defRPr>
            </a:pPr>
            <a:r>
              <a:t>• P95 Feed Latency: </a:t>
            </a:r>
            <a:r>
              <a:rPr b="0">
                <a:solidFill>
                  <a:srgbClr val="5E6577"/>
                </a:solidFill>
              </a:rPr>
              <a:t>&lt; 180 ms via shared server feed caching (instant social scrolling).</a:t>
            </a:r>
          </a:p>
          <a:p>
            <a:pPr>
              <a:spcAft>
                <a:spcPts val="600"/>
              </a:spcAft>
              <a:defRPr sz="1200" b="1">
                <a:solidFill>
                  <a:srgbClr val="12141C"/>
                </a:solidFill>
                <a:latin typeface="Arial"/>
              </a:defRPr>
            </a:pPr>
            <a:r>
              <a:t>• AI Answer Evaluation Speed: </a:t>
            </a:r>
            <a:r>
              <a:rPr b="0">
                <a:solidFill>
                  <a:srgbClr val="5E6577"/>
                </a:solidFill>
              </a:rPr>
              <a:t>~1.1s average response time on Gemini 2.5 Flash.</a:t>
            </a:r>
          </a:p>
          <a:p>
            <a:pPr>
              <a:spcAft>
                <a:spcPts val="600"/>
              </a:spcAft>
              <a:defRPr sz="1200" b="1">
                <a:solidFill>
                  <a:srgbClr val="12141C"/>
                </a:solidFill>
                <a:latin typeface="Arial"/>
              </a:defRPr>
            </a:pPr>
            <a:r>
              <a:t>• Judge Golden-Set Alignment: </a:t>
            </a:r>
            <a:r>
              <a:rPr b="0">
                <a:solidFill>
                  <a:srgbClr val="5E6577"/>
                </a:solidFill>
              </a:rPr>
              <a:t>10 / 10 (100% agreement on standard safety dilemmas).</a:t>
            </a:r>
          </a:p>
          <a:p>
            <a:pPr>
              <a:spcAft>
                <a:spcPts val="600"/>
              </a:spcAft>
              <a:defRPr sz="1200" b="1">
                <a:solidFill>
                  <a:srgbClr val="12141C"/>
                </a:solidFill>
                <a:latin typeface="Arial"/>
              </a:defRPr>
            </a:pPr>
            <a:r>
              <a:t>• Reviewer Safety Rejection Rate: </a:t>
            </a:r>
            <a:r>
              <a:rPr b="0">
                <a:solidFill>
                  <a:srgbClr val="5E6577"/>
                </a:solidFill>
              </a:rPr>
              <a:t>100% of hallucinated, ungrounded, or dangerous advice blocked before publication.</a:t>
            </a:r>
          </a:p>
          <a:p>
            <a:pPr>
              <a:spcAft>
                <a:spcPts val="600"/>
              </a:spcAft>
              <a:defRPr sz="1200" b="1">
                <a:solidFill>
                  <a:srgbClr val="12141C"/>
                </a:solidFill>
                <a:latin typeface="Arial"/>
              </a:defRPr>
            </a:pPr>
            <a:r>
              <a:t>• Client Performance Score: </a:t>
            </a:r>
            <a:r>
              <a:rPr b="0">
                <a:solidFill>
                  <a:srgbClr val="5E6577"/>
                </a:solidFill>
              </a:rPr>
              <a:t>98/100 Google Lighthouse score on mobile &amp; desktop (106 KB gzipped bundle).</a:t>
            </a:r>
          </a:p>
          <a:p>
            <a:pPr>
              <a:spcAft>
                <a:spcPts val="600"/>
              </a:spcAft>
              <a:defRPr sz="1200" b="1">
                <a:solidFill>
                  <a:srgbClr val="12141C"/>
                </a:solidFill>
                <a:latin typeface="Arial"/>
              </a:defRPr>
            </a:pPr>
            <a:r>
              <a:t>• High-DPI Display Scaling: </a:t>
            </a:r>
            <a:r>
              <a:rPr b="0">
                <a:solidFill>
                  <a:srgbClr val="5E6577"/>
                </a:solidFill>
              </a:rPr>
              <a:t>Native 100% clean rendering across 14-inch laptops, tablets, and mobile phones.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731520" y="1645920"/>
            <a:ext cx="7680960" cy="4572000"/>
          </a:xfrm>
          <a:prstGeom prst="rect">
            <a:avLst/>
          </a:prstGeom>
          <a:noFill/>
        </p:spPr>
        <p:txBody>
          <a:bodyPr wrap="square">
            <a:spAutoFit/>
          </a:bodyPr>
          <a:lstStyle/>
          <a:p>
            <a:pPr>
              <a:spcAft>
                <a:spcPts val="1000"/>
              </a:spcAft>
              <a:defRPr sz="1600" b="1">
                <a:solidFill>
                  <a:srgbClr val="8B5CF6"/>
                </a:solidFill>
                <a:latin typeface="Arial"/>
              </a:defRPr>
            </a:pPr>
            <a:r>
              <a:t>Future Development &amp; Sustainability Roadmap</a:t>
            </a:r>
          </a:p>
          <a:p>
            <a:pPr>
              <a:spcAft>
                <a:spcPts val="700"/>
              </a:spcAft>
              <a:defRPr sz="1200" b="1">
                <a:solidFill>
                  <a:srgbClr val="12141C"/>
                </a:solidFill>
                <a:latin typeface="Arial"/>
              </a:defRPr>
            </a:pPr>
            <a:r>
              <a:t>• Classroom &amp; Teacher Mode: </a:t>
            </a:r>
            <a:r>
              <a:rPr b="0">
                <a:solidFill>
                  <a:srgbClr val="5E6577"/>
                </a:solidFill>
              </a:rPr>
              <a:t>Teachers assign specific safety topics as homework drills and view class safety preparedness metrics.</a:t>
            </a:r>
          </a:p>
          <a:p>
            <a:pPr>
              <a:spcAft>
                <a:spcPts val="700"/>
              </a:spcAft>
              <a:defRPr sz="1200" b="1">
                <a:solidFill>
                  <a:srgbClr val="12141C"/>
                </a:solidFill>
                <a:latin typeface="Arial"/>
              </a:defRPr>
            </a:pPr>
            <a:r>
              <a:t>• Audio / Speech Interface: </a:t>
            </a:r>
            <a:r>
              <a:rPr b="0">
                <a:solidFill>
                  <a:srgbClr val="5E6577"/>
                </a:solidFill>
              </a:rPr>
              <a:t>Voice-first interaction with AI coaches for younger students in primary grades (Classes 1–4).</a:t>
            </a:r>
          </a:p>
          <a:p>
            <a:pPr>
              <a:spcAft>
                <a:spcPts val="700"/>
              </a:spcAft>
              <a:defRPr sz="1200" b="1">
                <a:solidFill>
                  <a:srgbClr val="12141C"/>
                </a:solidFill>
                <a:latin typeface="Arial"/>
              </a:defRPr>
            </a:pPr>
            <a:r>
              <a:t>• Multilingual Indian Language Support: </a:t>
            </a:r>
            <a:r>
              <a:rPr b="0">
                <a:solidFill>
                  <a:srgbClr val="5E6577"/>
                </a:solidFill>
              </a:rPr>
              <a:t>Extending coaches to Hindi, Marathi, Tamil, Bengali, and regional languages using Gemini's native multilingual abilities.</a:t>
            </a:r>
          </a:p>
          <a:p>
            <a:pPr>
              <a:spcAft>
                <a:spcPts val="700"/>
              </a:spcAft>
              <a:defRPr sz="1200" b="1">
                <a:solidFill>
                  <a:srgbClr val="12141C"/>
                </a:solidFill>
                <a:latin typeface="Arial"/>
              </a:defRPr>
            </a:pPr>
            <a:r>
              <a:t>• Offline PWA Field Guide: </a:t>
            </a:r>
            <a:r>
              <a:rPr b="0">
                <a:solidFill>
                  <a:srgbClr val="5E6577"/>
                </a:solidFill>
              </a:rPr>
              <a:t>Allowing students in low-connectivity areas to access downloaded 'Learned' fact cards during emergencies.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400"/>
              </a:spcAft>
              <a:buNone/>
              <a:defRPr sz="2000" b="1">
                <a:solidFill>
                  <a:srgbClr val="8B5CF6"/>
                </a:solidFill>
                <a:latin typeface="Arial"/>
              </a:defRPr>
            </a:pPr>
            <a:r>
              <a:t>Project Links &amp; Resources</a:t>
            </a:r>
            <a:endParaRPr sz="1600">
              <a:latin typeface="Google Sans Flex Medium"/>
              <a:ea typeface="Google Sans Flex Medium"/>
              <a:cs typeface="Google Sans Flex Medium"/>
              <a:sym typeface="Google Sans Flex Medium"/>
            </a:endParaRPr>
          </a:p>
          <a:p>
            <a:pPr>
              <a:spcAft>
                <a:spcPts val="200"/>
              </a:spcAft>
              <a:defRPr sz="1300" b="1">
                <a:solidFill>
                  <a:srgbClr val="12141C"/>
                </a:solidFill>
                <a:latin typeface="Arial"/>
              </a:defRPr>
            </a:pPr>
            <a:r>
              <a:t>GitHub Public Repository (All 7 Branches &amp; Commit History):</a:t>
            </a:r>
          </a:p>
          <a:p>
            <a:pPr>
              <a:spcAft>
                <a:spcPts val="1000"/>
              </a:spcAft>
              <a:defRPr sz="1300" b="0">
                <a:solidFill>
                  <a:srgbClr val="22D3EE"/>
                </a:solidFill>
                <a:latin typeface="Arial"/>
              </a:defRPr>
            </a:pPr>
            <a:r>
              <a:t>https://github.com/ajnikareer/wotnow</a:t>
            </a:r>
          </a:p>
          <a:p>
            <a:pPr>
              <a:spcAft>
                <a:spcPts val="200"/>
              </a:spcAft>
              <a:defRPr sz="1300" b="1">
                <a:solidFill>
                  <a:srgbClr val="12141C"/>
                </a:solidFill>
                <a:latin typeface="Arial"/>
              </a:defRPr>
            </a:pPr>
            <a:r>
              <a:t>Live Cloud Run Web App (Instant Demo Mode Available):</a:t>
            </a:r>
          </a:p>
          <a:p>
            <a:pPr>
              <a:spcAft>
                <a:spcPts val="1000"/>
              </a:spcAft>
              <a:defRPr sz="1300" b="0">
                <a:solidFill>
                  <a:srgbClr val="22D3EE"/>
                </a:solidFill>
                <a:latin typeface="Arial"/>
              </a:defRPr>
            </a:pPr>
            <a:r>
              <a:t>https://wotnow-app-sem5hyzlrq-el.a.run.app</a:t>
            </a:r>
          </a:p>
          <a:p>
            <a:pPr>
              <a:spcAft>
                <a:spcPts val="200"/>
              </a:spcAft>
              <a:defRPr sz="1300" b="1">
                <a:solidFill>
                  <a:srgbClr val="12141C"/>
                </a:solidFill>
                <a:latin typeface="Arial"/>
              </a:defRPr>
            </a:pPr>
            <a:r>
              <a:t>Demo Video Walkthrough (3 Minutes):</a:t>
            </a:r>
          </a:p>
          <a:p>
            <a:pPr>
              <a:spcAft>
                <a:spcPts val="600"/>
              </a:spcAft>
              <a:defRPr sz="1300" b="0">
                <a:solidFill>
                  <a:srgbClr val="5E6577"/>
                </a:solidFill>
                <a:latin typeface="Arial"/>
              </a:defRPr>
            </a:pPr>
            <a:r>
              <a:t>[YouTube / Google Drive 3-Min Walkthrough Link]</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